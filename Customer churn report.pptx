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15.4</c:v>
                </c:pt>
                <c:pt idx="2">
                  <c:v>28.7</c:v>
                </c:pt>
                <c:pt idx="3">
                  <c:v>47.3</c:v>
                </c:pt>
                <c:pt idx="4">
                  <c:v>73.5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69-8A4E-ACC7-1815B55E10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Complaints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bubble3D val="0"/>
            <c:spPr>
              <a:solidFill>
                <a:srgbClr val="48BB78"/>
              </a:solidFill>
              <a:effectLst/>
            </c:spPr>
          </c:dPt>
          <c:dPt>
            <c:idx val="2"/>
            <c:bubble3D val="0"/>
            <c:spPr>
              <a:solidFill>
                <a:srgbClr val="ECC94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At-Risk (22%)</c:v>
                </c:pt>
                <c:pt idx="1">
                  <c:v>Loyal (53%)</c:v>
                </c:pt>
                <c:pt idx="2">
                  <c:v>Dormant (25%)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53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6-C047-8681-9A49291D7B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ln w="3175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13-18</c:v>
                </c:pt>
                <c:pt idx="5">
                  <c:v>18+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34.200000000000003</c:v>
                </c:pt>
                <c:pt idx="1">
                  <c:v>41.7</c:v>
                </c:pt>
                <c:pt idx="2">
                  <c:v>29.8</c:v>
                </c:pt>
                <c:pt idx="3">
                  <c:v>22.4</c:v>
                </c:pt>
                <c:pt idx="4">
                  <c:v>15.1</c:v>
                </c:pt>
                <c:pt idx="5">
                  <c:v>8.3000000000000007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6FE-E448-9A35-BE4B73884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Count</c:v>
                </c:pt>
              </c:strCache>
            </c:strRef>
          </c:tx>
          <c:spPr>
            <a:ln w="31750" cap="flat">
              <a:solidFill>
                <a:srgbClr val="F6AD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6AD55"/>
              </a:solidFill>
              <a:ln w="9525" cap="flat">
                <a:solidFill>
                  <a:srgbClr val="F6AD5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1820</c:v>
                </c:pt>
                <c:pt idx="1">
                  <c:v>1950</c:v>
                </c:pt>
                <c:pt idx="2">
                  <c:v>2100</c:v>
                </c:pt>
                <c:pt idx="3">
                  <c:v>1870</c:v>
                </c:pt>
                <c:pt idx="4">
                  <c:v>2210</c:v>
                </c:pt>
                <c:pt idx="5">
                  <c:v>1842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546-484A-A02B-2F674A8F02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69A56-D24F-0849-921F-1D1EADD8020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36EA6-F9D8-CC47-9DF6-2F4D8F226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8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chart" Target="../charts/chart4.xml" /><Relationship Id="rId5" Type="http://schemas.openxmlformats.org/officeDocument/2006/relationships/chart" Target="../charts/chart3.xml" /><Relationship Id="rId4" Type="http://schemas.openxmlformats.org/officeDocument/2006/relationships/chart" Target="../charts/char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ANALYTICS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Retention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201168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 and deriving actionable strategies to retain users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highly competitive telecom environment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(Scikit-learn, ELI5, SHAP)  |  SQL  |  Tableau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468880" cy="914400"/>
          </a:xfrm>
          <a:prstGeom prst="rect">
            <a:avLst/>
          </a:prstGeom>
          <a:solidFill>
            <a:srgbClr val="16213E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16276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Churn 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2468880" cy="914400"/>
          </a:xfrm>
          <a:prstGeom prst="rect">
            <a:avLst/>
          </a:prstGeom>
          <a:solidFill>
            <a:srgbClr val="16213E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816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Acquisition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3474720"/>
            <a:ext cx="2468880" cy="914400"/>
          </a:xfrm>
          <a:prstGeom prst="rect">
            <a:avLst/>
          </a:prstGeom>
          <a:solidFill>
            <a:srgbClr val="16213E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4005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96596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Churn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04872" y="82296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04872" y="822960"/>
            <a:ext cx="196596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04872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 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144" y="82296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822960"/>
            <a:ext cx="1965960" cy="54864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81144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57416" y="82296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822960"/>
            <a:ext cx="1965960" cy="54864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57416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251460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highest among postpaid customers with &gt;6 months tenure and low recharge frequency.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predictors: customer complaints count, days since last recharge, and call drop rate.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achieved 91.4% accuracy and 88% F1-score on the test dataset.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 segments identified: At-Risk (22%), Loyal (53%), and Dormant (25%).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targeted retention offers for At-Risk customers can reduce churn by an estimated 35%.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industry faces one of the highest customer attrition rates globally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5–25× more than retaining an existing 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churned customer means recurring revenue loss over their lifetime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impacts brand reputation and investor confidence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strategies are insufficient — proactive prediction is essential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822960"/>
            <a:ext cx="329184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822960"/>
            <a:ext cx="73152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914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Complexity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2618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rows across call logs, billing, and support tickets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2148840"/>
            <a:ext cx="329184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148840"/>
            <a:ext cx="73152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240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25877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~27% of customers churn — model bias risk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3474720"/>
            <a:ext cx="329184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74720"/>
            <a:ext cx="73152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566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39136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signals must be detected 30–60 days in advance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binary churn prediction model and segment customers to enable targeted retention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SQL AGGREGATION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68,532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252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4872" y="7772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04872" y="1252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81144" y="7772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1144" y="1252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57416" y="777240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57416" y="12527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691640"/>
            <a:ext cx="4114800" cy="3246120"/>
          </a:xfrm>
          <a:prstGeom prst="rect">
            <a:avLst/>
          </a:prstGeom>
          <a:solidFill>
            <a:srgbClr val="1E2233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FF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— Feature Aggregation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14884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c.customer_id,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AVG(cd.call_duration) AS avg_call_dur,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COUNT(cd.call_id)     AS total_calls,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SUM(r.recharge_amt)   AS total_recharge,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COUNT(r.recharge_id)  AS recharge_freq,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COUNT(co.complaint_id)AS complaints,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MAX(r.recharge_date)  AS last_recharge,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c.churn_flag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call_data cd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cd.customer_id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recharges r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r.customer_id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complaints co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co.customer_id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c.churn_flag;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854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avg_call_duration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18541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call length per customer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496312"/>
            <a:ext cx="4114800" cy="3017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532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recharge_frequency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25328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recharges in 6 months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843784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complaint_count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complaints raised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191256"/>
            <a:ext cx="4114800" cy="3017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2278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days_since_recharge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32278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last recharge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38728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5753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monthly_revenue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357530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billing amount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886200"/>
            <a:ext cx="4114800" cy="3017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9227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call_drop_rate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392277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dropped calls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4233672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2702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data_usage_mb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4270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 consumption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581144"/>
            <a:ext cx="4114800" cy="3017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617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tenure_months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4617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as active customer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258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801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54480" y="1554480"/>
            <a:ext cx="1371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188720"/>
            <a:ext cx="13258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2801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 / 20)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554480"/>
            <a:ext cx="1371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88720"/>
            <a:ext cx="13258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2801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1554480"/>
            <a:ext cx="1371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188720"/>
            <a:ext cx="132588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801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554480"/>
            <a:ext cx="1371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188720"/>
            <a:ext cx="13258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2801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1554480"/>
            <a:ext cx="1371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188720"/>
            <a:ext cx="13258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2801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240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(Random Forest)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2752344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752344"/>
            <a:ext cx="3343046" cy="20116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136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45920" y="3191256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3191256"/>
            <a:ext cx="3262579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1363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5753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0" y="3630168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0" y="3630168"/>
            <a:ext cx="320040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57530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0142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4069080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0" y="4069080"/>
            <a:ext cx="3229661" cy="2011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40142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4531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645920" y="4507992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0" y="4507992"/>
            <a:ext cx="3441802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445312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2240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651760"/>
          <a:ext cx="3383280" cy="2194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(ELI5 / SHAP)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 — SHAP Values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389120" cy="23774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46504"/>
            <a:ext cx="3713871" cy="23774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Recharge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6824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94560"/>
            <a:ext cx="3094892" cy="237744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Drop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42616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42616"/>
            <a:ext cx="2663483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Frequency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5786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90672"/>
            <a:ext cx="2213317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26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026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38728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38728"/>
            <a:ext cx="1669366" cy="237744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Call Duration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474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986784"/>
            <a:ext cx="44805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986784"/>
            <a:ext cx="1012874" cy="237744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227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Usage (MB)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922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777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Insights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0" y="123444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1234440"/>
            <a:ext cx="64008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12984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complaints in 90 days → 4× higher churn probability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192024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1920240"/>
            <a:ext cx="64008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1984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recharge in 15+ days is a strong early-warning signal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0604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2606040"/>
            <a:ext cx="64008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26700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drop rate &gt;8% strongly correlates with dissatisfaction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0" y="329184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3291840"/>
            <a:ext cx="64008" cy="56692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3355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data usage are 62% less likely to churn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397764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3977640"/>
            <a:ext cx="64008" cy="56692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40416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tenure (&gt;18 months) significantly reduces churn risk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4206240"/>
          </a:xfrm>
          <a:prstGeom prst="rect">
            <a:avLst/>
          </a:prstGeom>
          <a:solidFill>
            <a:srgbClr val="FFF5F5"/>
          </a:solidFill>
          <a:ln w="19050">
            <a:solidFill>
              <a:srgbClr val="E53E3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8892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At-Risk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15,077 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41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complaint count (4+)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recharge frequency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days no recharge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call drop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069080"/>
            <a:ext cx="2514600" cy="7132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114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intervention — personalized offers &amp; priority support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777240"/>
            <a:ext cx="2788920" cy="4206240"/>
          </a:xfrm>
          <a:prstGeom prst="rect">
            <a:avLst/>
          </a:prstGeom>
          <a:solidFill>
            <a:srgbClr val="F0FFF4"/>
          </a:solidFill>
          <a:ln w="19050">
            <a:solidFill>
              <a:srgbClr val="48BB7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777240"/>
            <a:ext cx="2788920" cy="73152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9418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Loyal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1344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10128" y="1965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36,322 customers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10128" y="2331720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441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269748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monthly recharge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complaints (&lt;1 avg)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data usage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tenure (&gt;12 months)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4069080"/>
            <a:ext cx="2514600" cy="713232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4114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programs — loyalty discounts &amp; exclusive benefits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17336" y="777240"/>
            <a:ext cx="2788920" cy="4206240"/>
          </a:xfrm>
          <a:prstGeom prst="rect">
            <a:avLst/>
          </a:prstGeom>
          <a:solidFill>
            <a:srgbClr val="FFFFF0"/>
          </a:solidFill>
          <a:ln w="19050">
            <a:solidFill>
              <a:srgbClr val="ECC94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777240"/>
            <a:ext cx="2788920" cy="73152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9418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Dormant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54496" y="13441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54496" y="1965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17,133 customers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54496" y="2331720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2441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54496" y="269748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activity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recharge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call volume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tenure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4496" y="4069080"/>
            <a:ext cx="2514600" cy="713232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41148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campaigns — bonus data &amp; win-back offers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 — KEY CHARTS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Complaint Count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54880" y="10972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(months)</a:t>
            </a:r>
            <a:endParaRPr lang="en-US" sz="11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274320" y="3657600"/>
          <a:ext cx="41148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475488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Trend</a:t>
            </a:r>
            <a:endParaRPr lang="en-US" sz="1100" dirty="0"/>
          </a:p>
        </p:txBody>
      </p:sp>
      <p:graphicFrame>
        <p:nvGraphicFramePr>
          <p:cNvPr id="11" name="Chart 3"/>
          <p:cNvGraphicFramePr/>
          <p:nvPr/>
        </p:nvGraphicFramePr>
        <p:xfrm>
          <a:off x="4754880" y="3657600"/>
          <a:ext cx="41148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19202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" y="125272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Resolution Priority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618488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At-Risk customers with 3+ complaints to dedicated support within 2 hours. Resolve root-cause issues (call drops, billing errors) proactively.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" y="2423160"/>
            <a:ext cx="2514600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4414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↓ 18% churn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777240"/>
            <a:ext cx="27889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777240"/>
            <a:ext cx="64008" cy="192024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125272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Recharge Nudges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618488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SMS/app push after 10 days of no recharge with a bonus offer. Escalate to call if no action in 15 days. Target dormant segment.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2423160"/>
            <a:ext cx="2514600" cy="2011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24414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↓ 12% churn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17336" y="777240"/>
            <a:ext cx="27889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777240"/>
            <a:ext cx="64008" cy="1920240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81928" y="125272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 Program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1618488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tiered loyalty points for Loyal segment — redeemable for data packs, discounts, and priority support. Reward tenure milestones.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81928" y="2423160"/>
            <a:ext cx="2514600" cy="20116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24414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↑ 22% retention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27889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834640"/>
            <a:ext cx="64008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3192" y="331012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 Improvement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" y="3675888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call drop data to identify network hotspots. Prioritize infrastructure upgrades in areas with &gt;8% drop rate. Reduce churn from network dissatisfaction.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3192" y="4480560"/>
            <a:ext cx="251460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4988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↓ 10% churn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72968" y="2834640"/>
            <a:ext cx="27889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2834640"/>
            <a:ext cx="64008" cy="1920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337560" y="331012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37560" y="3675888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 model in production as a real-time scoring API. Create CRM dashboard with churn score for every customer, refreshed weekly.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4480560"/>
            <a:ext cx="251460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44988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35% early detection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17336" y="2834640"/>
            <a:ext cx="27889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17336" y="2834640"/>
            <a:ext cx="64008" cy="192024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281928" y="3310128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Win-Back Campaigns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81928" y="3675888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Dormant segment with personalised discounts based on historical usage patterns. A/B test offer types — data bonus vs price discount.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81928" y="4480560"/>
            <a:ext cx="2514600" cy="20116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44988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↑ 15% re-activation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591056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874520"/>
            <a:ext cx="19202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874520"/>
            <a:ext cx="192024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11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1305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2648" y="2423160"/>
            <a:ext cx="1691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prediction model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real-time scoring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CRM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591056"/>
            <a:ext cx="164592" cy="16459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1874520"/>
            <a:ext cx="19202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6AD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4328" y="1874520"/>
            <a:ext cx="1920240" cy="4572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911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21305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15768" y="2423160"/>
            <a:ext cx="1691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complaint fast-track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nudge campaigns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outreach calls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591056"/>
            <a:ext cx="164592" cy="164592"/>
          </a:xfrm>
          <a:prstGeom prst="ellipse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1874520"/>
            <a:ext cx="19202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48BB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1874520"/>
            <a:ext cx="1920240" cy="457200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911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21305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18888" y="2423160"/>
            <a:ext cx="1691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rollout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win-back drive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offer types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1591056"/>
            <a:ext cx="164592" cy="16459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1874520"/>
            <a:ext cx="19202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1874520"/>
            <a:ext cx="192024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1911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76288" y="21305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22008" y="2423160"/>
            <a:ext cx="1691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 fixes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cycle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review &amp; optimise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30–35% reduction in monthly churn rate within 6 months, recovering ₹1.4Cr+ in monthly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5943600" cy="475488"/>
          </a:xfrm>
          <a:prstGeom prst="rect">
            <a:avLst/>
          </a:prstGeom>
          <a:solidFill>
            <a:srgbClr val="16213E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96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predicts churn with 91.4% accuracy using SQL-aggregated features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990088"/>
            <a:ext cx="5943600" cy="475488"/>
          </a:xfrm>
          <a:prstGeom prst="rect">
            <a:avLst/>
          </a:prstGeom>
          <a:solidFill>
            <a:srgbClr val="16213E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5409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reveals complaint count and recharge recency as the top churn drivers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557016"/>
            <a:ext cx="5943600" cy="475488"/>
          </a:xfrm>
          <a:prstGeom prst="rect">
            <a:avLst/>
          </a:prstGeom>
          <a:solidFill>
            <a:srgbClr val="16213E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30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segments identified — At-Risk, Loyal, Dormant — each with tailored strategies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123944"/>
            <a:ext cx="5943600" cy="475488"/>
          </a:xfrm>
          <a:prstGeom prst="rect">
            <a:avLst/>
          </a:prstGeom>
          <a:solidFill>
            <a:srgbClr val="16213E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97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1879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6-phase roadmap with estimated 30–35% churn reduction and ₹1.4Cr monthly recovery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777240"/>
            <a:ext cx="224028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914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14813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792224"/>
            <a:ext cx="178308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874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24414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178308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75120" y="3401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3712464"/>
            <a:ext cx="178308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94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₹1.4Cr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675120" y="4361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Recovery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Report</dc:title>
  <dc:subject>PptxGenJS Presentation</dc:subject>
  <dc:creator>PptxGenJS</dc:creator>
  <cp:lastModifiedBy>vikas naik</cp:lastModifiedBy>
  <cp:revision>2</cp:revision>
  <dcterms:created xsi:type="dcterms:W3CDTF">2026-03-24T09:13:21Z</dcterms:created>
  <dcterms:modified xsi:type="dcterms:W3CDTF">2026-03-24T09:55:43Z</dcterms:modified>
</cp:coreProperties>
</file>